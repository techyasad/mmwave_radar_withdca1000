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6421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14558-6376-14BE-4F55-211C4B3B4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E5A1CB-517F-D2F1-E749-6F6191EBDB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C5A898-0E64-AC27-A08A-6A8480FA70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46196-89A0-0E93-7C3B-4052CAF90D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1983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1E2B38"/>
          </a:solidFill>
          <a:ln w="12700">
            <a:solidFill>
              <a:srgbClr val="1E2B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926080"/>
            <a:ext cx="2011680" cy="2011680"/>
          </a:xfrm>
          <a:prstGeom prst="ellipse">
            <a:avLst/>
          </a:prstGeom>
          <a:solidFill>
            <a:srgbClr val="1E2B38"/>
          </a:solidFill>
          <a:ln w="12700">
            <a:solidFill>
              <a:srgbClr val="1E2B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875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RADAR SIGNAL PROCESSING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IWR1843 + DCA1000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Capture &amp; Range FFT Pipeline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UDP packet extraction → complex sample reconstruction → windowed FFT → calibrated range output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434840"/>
            <a:ext cx="8046720" cy="182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System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737360" cy="1463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7043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IWR1843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Boost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75564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mmWave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Radar Sensor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21408" y="1737360"/>
            <a:ext cx="201168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04288" y="1005840"/>
            <a:ext cx="1737360" cy="14630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04288" y="117043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DCA1000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EVM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304288" y="175564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Raw ADC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Capture Board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59936" y="1737360"/>
            <a:ext cx="201168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42816" y="1005840"/>
            <a:ext cx="1737360" cy="1463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42816" y="117043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</a:rPr>
              <a:t>UDP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</a:rPr>
              <a:t>Stream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242816" y="175564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</a:rPr>
              <a:t>Ethernet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</a:rPr>
              <a:t>Port 4098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98464" y="1737360"/>
            <a:ext cx="201168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81344" y="1005840"/>
            <a:ext cx="1737360" cy="1463040"/>
          </a:xfrm>
          <a:prstGeom prst="rect">
            <a:avLst/>
          </a:prstGeom>
          <a:solidFill>
            <a:srgbClr val="E0EAF0"/>
          </a:solidFill>
          <a:ln w="12700">
            <a:solidFill>
              <a:srgbClr val="E0EA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81344" y="117043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</a:rPr>
              <a:t>PC Host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</a:rPr>
              <a:t>Script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181344" y="1755648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</a:rPr>
              <a:t>dca1000_lite.py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</a:rPr>
              <a:t>.dcaudp file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788920"/>
            <a:ext cx="841248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8346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What happens on the PC  →  this work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200400"/>
            <a:ext cx="1965960" cy="1554480"/>
          </a:xfrm>
          <a:prstGeom prst="rect">
            <a:avLst/>
          </a:prstGeom>
          <a:solidFill>
            <a:srgbClr val="E0EAF0"/>
          </a:solidFill>
          <a:ln w="12700">
            <a:solidFill>
              <a:srgbClr val="E0EA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115568" y="3255264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15568" y="3255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65760" y="376732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1B2A"/>
                </a:solidFill>
              </a:rPr>
              <a:t>Packet Extraction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4096512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Parse .dcaudp binary, recover raw ADC bytes per packet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14600" y="3200400"/>
            <a:ext cx="1965960" cy="1554480"/>
          </a:xfrm>
          <a:prstGeom prst="rect">
            <a:avLst/>
          </a:prstGeom>
          <a:solidFill>
            <a:srgbClr val="E0EAF0"/>
          </a:solidFill>
          <a:ln w="12700">
            <a:solidFill>
              <a:srgbClr val="E0EA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64408" y="3255264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64408" y="3255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2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514600" y="376732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1B2A"/>
                </a:solidFill>
              </a:rPr>
              <a:t>IQ Reconstruction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606040" y="4096512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Rearrange int16 stream from [I I Q Q] → complex (I+jQ)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3200400"/>
            <a:ext cx="1965960" cy="1554480"/>
          </a:xfrm>
          <a:prstGeom prst="rect">
            <a:avLst/>
          </a:prstGeom>
          <a:solidFill>
            <a:srgbClr val="E0EAF0"/>
          </a:solidFill>
          <a:ln w="12700">
            <a:solidFill>
              <a:srgbClr val="E0EA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13248" y="3255264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13248" y="3255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3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663440" y="376732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1B2A"/>
                </a:solidFill>
              </a:rPr>
              <a:t>Radar Cube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754880" y="4096512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Reshape into (chirps × RX × samples) 3D array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812280" y="3200400"/>
            <a:ext cx="1965960" cy="1554480"/>
          </a:xfrm>
          <a:prstGeom prst="rect">
            <a:avLst/>
          </a:prstGeom>
          <a:solidFill>
            <a:srgbClr val="E0EAF0"/>
          </a:solidFill>
          <a:ln w="12700">
            <a:solidFill>
              <a:srgbClr val="E0EA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562088" y="3255264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62088" y="3255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4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812280" y="376732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1B2A"/>
                </a:solidFill>
              </a:rPr>
              <a:t>Range FFT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903720" y="4096512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Apply Hanning window, run FFT along fast-time axis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.dcaudp File Format &amp; Packet Structure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840480" cy="3977640"/>
          </a:xfrm>
          <a:prstGeom prst="rect">
            <a:avLst/>
          </a:prstGeom>
          <a:solidFill>
            <a:srgbClr val="E0EAF0"/>
          </a:solidFill>
          <a:ln w="12700">
            <a:solidFill>
              <a:srgbClr val="E0EAF0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896112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868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File Layout  (.dcaudp)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11480" y="1371600"/>
            <a:ext cx="86868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137160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8 bytes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353312" y="13716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B38"/>
                </a:solidFill>
              </a:rPr>
              <a:t>Magic header: DCAUDP1\0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11480" y="2039112"/>
            <a:ext cx="356616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2063379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0B4D8"/>
                </a:solidFill>
              </a:rPr>
              <a:t>─── repeat per packet ───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11480" y="2377440"/>
            <a:ext cx="86868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480" y="237744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8 bytes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353312" y="23774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B38"/>
                </a:solidFill>
              </a:rPr>
              <a:t>timestamp_ns  (uint64 LE)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11480" y="2880360"/>
            <a:ext cx="86868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1480" y="288036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4 bytes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353312" y="288036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B38"/>
                </a:solidFill>
              </a:rPr>
              <a:t>packet_length  (uint32 LE)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11480" y="3383280"/>
            <a:ext cx="86868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1480" y="338328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N bytes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353312" y="33832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B38"/>
                </a:solidFill>
              </a:rPr>
              <a:t>Raw UDP payload →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572000" y="822960"/>
            <a:ext cx="4297680" cy="3977640"/>
          </a:xfrm>
          <a:prstGeom prst="rect">
            <a:avLst/>
          </a:prstGeom>
          <a:solidFill>
            <a:srgbClr val="F0F8FF"/>
          </a:solidFill>
          <a:ln w="12700">
            <a:solidFill>
              <a:srgbClr val="E0EAF0"/>
            </a:solidFill>
            <a:prstDash val="solid"/>
          </a:ln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896112"/>
            <a:ext cx="347472" cy="34747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120640" y="8686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UDP Payload (DCA1000 header)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4709160" y="1371600"/>
            <a:ext cx="100584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709160" y="137160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0E0EF"/>
                </a:solidFill>
              </a:rPr>
              <a:t>bytes 0–3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5788152" y="137160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B38"/>
                </a:solidFill>
              </a:rPr>
              <a:t>Sequence number  (uint32 LE)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4709160" y="1920240"/>
            <a:ext cx="100584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709160" y="192024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0E0EF"/>
                </a:solidFill>
              </a:rPr>
              <a:t>bytes 4–9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5788152" y="19202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B38"/>
                </a:solidFill>
              </a:rPr>
              <a:t>Byte counter  (48-bit LE)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4709160" y="2468880"/>
            <a:ext cx="100584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709160" y="246888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0E0EF"/>
                </a:solidFill>
              </a:rPr>
              <a:t>bytes 10+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5788152" y="246888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B38"/>
                </a:solidFill>
              </a:rPr>
              <a:t>Raw ADC payload  →  int16 samples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4640580" y="3072384"/>
            <a:ext cx="4160520" cy="172821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4" name="Text 30"/>
          <p:cNvSpPr/>
          <p:nvPr/>
        </p:nvSpPr>
        <p:spPr>
          <a:xfrm>
            <a:off x="4754880" y="277977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Why store packets, not raw bytes?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4754880" y="31821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  ›  </a:t>
            </a:r>
            <a:r>
              <a:rPr lang="en-US" sz="1000" dirty="0">
                <a:solidFill>
                  <a:srgbClr val="E0EAF0"/>
                </a:solidFill>
              </a:rPr>
              <a:t>Sequence numbers → detect dropped packets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4754880" y="355701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  ›  </a:t>
            </a:r>
            <a:r>
              <a:rPr lang="en-US" sz="1000" dirty="0">
                <a:solidFill>
                  <a:srgbClr val="E0EAF0"/>
                </a:solidFill>
              </a:rPr>
              <a:t>Byte counter → verify continuity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4754880" y="39319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  ›  </a:t>
            </a:r>
            <a:r>
              <a:rPr lang="en-US" sz="1000" dirty="0">
                <a:solidFill>
                  <a:srgbClr val="E0EAF0"/>
                </a:solidFill>
              </a:rPr>
              <a:t>Last packet can differ in size — boundaries matter</a:t>
            </a:r>
            <a:endParaRPr lang="en-US" sz="1000" dirty="0"/>
          </a:p>
        </p:txBody>
      </p:sp>
      <p:sp>
        <p:nvSpPr>
          <p:cNvPr id="38" name="Text 34"/>
          <p:cNvSpPr/>
          <p:nvPr/>
        </p:nvSpPr>
        <p:spPr>
          <a:xfrm>
            <a:off x="4754880" y="430682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  ›  </a:t>
            </a:r>
            <a:r>
              <a:rPr lang="en-US" sz="1000" dirty="0">
                <a:solidFill>
                  <a:srgbClr val="E0EAF0"/>
                </a:solidFill>
              </a:rPr>
              <a:t>Timestamps → replay / offline analysis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IQ Sample Reconstruction from ADC Stream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685800"/>
          </a:xfrm>
          <a:prstGeom prst="rect">
            <a:avLst/>
          </a:prstGeom>
          <a:solidFill>
            <a:srgbClr val="FFF3E0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503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4F00"/>
                </a:solidFill>
              </a:rPr>
              <a:t>⚠  The raw ADC stream is NOT standard [I, Q, I, Q, …] interleaving — it requires explicit rearrangement.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6916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Raw int16 layout (as received)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937760" y="16916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After rearrangement (correct IQ pairs)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103120"/>
            <a:ext cx="41148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10312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I₀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103120"/>
            <a:ext cx="41148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10312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I₁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188720" y="2103120"/>
            <a:ext cx="411480" cy="5029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210312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Q₀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645920" y="2103120"/>
            <a:ext cx="411480" cy="5029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45920" y="210312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Q₁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103120" y="2103120"/>
            <a:ext cx="41148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03120" y="210312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560320" y="2103120"/>
            <a:ext cx="41148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0" y="210312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I₃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017520" y="2103120"/>
            <a:ext cx="411480" cy="5029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17520" y="210312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Q₂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74720" y="2103120"/>
            <a:ext cx="411480" cy="50292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210312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Q₃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" y="26517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group of 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103120" y="26517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group of 4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343400" y="2359152"/>
            <a:ext cx="502920" cy="0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43400" y="217627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4937760" y="2103120"/>
            <a:ext cx="9144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21031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0E0EF"/>
                </a:solidFill>
              </a:rPr>
              <a:t>I₀+jQ₀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43600" y="2103120"/>
            <a:ext cx="9144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0" y="21031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0E0EF"/>
                </a:solidFill>
              </a:rPr>
              <a:t>I₁+jQ₁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949440" y="2103120"/>
            <a:ext cx="9144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0" y="21031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0E0EF"/>
                </a:solidFill>
              </a:rPr>
              <a:t>I₂+jQ₂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955280" y="2103120"/>
            <a:ext cx="9144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55280" y="21031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0E0EF"/>
                </a:solidFill>
              </a:rPr>
              <a:t>I₃+jQ₃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37760" y="2651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complex samples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4320" y="3063240"/>
            <a:ext cx="8595360" cy="1737360"/>
          </a:xfrm>
          <a:prstGeom prst="rect">
            <a:avLst/>
          </a:prstGeom>
          <a:solidFill>
            <a:srgbClr val="1E2B38"/>
          </a:solidFill>
          <a:ln w="12700">
            <a:solidFill>
              <a:srgbClr val="1E2B3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3127248"/>
            <a:ext cx="81381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Reshape into blocks of 4  → [I₀  I₁  Q₀  Q₁]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 = adc_int16.reshape(-1, 4)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    = data[:, 0:2].reshape(-1)     # columns 0-1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    = data[:, 2:4].reshape(-1)     # columns 2-3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complex_samples = I + 1j * Q</a:t>
            </a:r>
            <a:endParaRPr lang="en-US" sz="115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B5F2AF83-A7C3-3656-2FD7-44443F1CBF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778" y="2834641"/>
            <a:ext cx="8820443" cy="2082018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8D9CE026-79BD-8252-9EDB-89C9789AE102}"/>
              </a:ext>
            </a:extLst>
          </p:cNvPr>
          <p:cNvSpPr txBox="1"/>
          <p:nvPr/>
        </p:nvSpPr>
        <p:spPr>
          <a:xfrm>
            <a:off x="161778" y="4800600"/>
            <a:ext cx="81100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Reference: Texas Instruments </a:t>
            </a:r>
            <a:r>
              <a:rPr lang="en-IN" sz="1600" dirty="0" err="1"/>
              <a:t>mmWave</a:t>
            </a:r>
            <a:r>
              <a:rPr lang="en-IN" sz="1600" dirty="0"/>
              <a:t> Studio GUI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Radar Cube Construction &amp; Range FFT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97280" y="1325880"/>
            <a:ext cx="2011680" cy="2194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08760" y="914400"/>
            <a:ext cx="2011680" cy="2194560"/>
          </a:xfrm>
          <a:prstGeom prst="rect">
            <a:avLst/>
          </a:prstGeom>
          <a:solidFill>
            <a:srgbClr val="0077A8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08760" y="914400"/>
            <a:ext cx="2011680" cy="411480"/>
          </a:xfrm>
          <a:prstGeom prst="rect">
            <a:avLst/>
          </a:prstGeom>
          <a:solidFill>
            <a:srgbClr val="90E0EF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459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Chirps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(slow time)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00200" y="10058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RX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Antennas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(×4)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566160" y="17373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Samples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/ chirp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(256)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71600" y="22860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Radar Data Cube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[ chirps × 4 RX × 256 ]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822960"/>
            <a:ext cx="4206240" cy="960120"/>
          </a:xfrm>
          <a:prstGeom prst="rect">
            <a:avLst/>
          </a:prstGeom>
          <a:solidFill>
            <a:srgbClr val="E0EAF0"/>
          </a:solidFill>
          <a:ln w="12700">
            <a:solidFill>
              <a:srgbClr val="E0EA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078992"/>
            <a:ext cx="457200" cy="45720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078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21808" y="88696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</a:rPr>
              <a:t>Reshape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321808" y="128016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complex_samples.reshape(num_chirps, 4, 256)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874520"/>
            <a:ext cx="4206240" cy="960120"/>
          </a:xfrm>
          <a:prstGeom prst="rect">
            <a:avLst/>
          </a:prstGeom>
          <a:solidFill>
            <a:srgbClr val="E0EAF0"/>
          </a:solidFill>
          <a:ln w="12700">
            <a:solidFill>
              <a:srgbClr val="E0EA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2130552"/>
            <a:ext cx="457200" cy="45720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130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21808" y="193852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</a:rPr>
              <a:t>Hanning Window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321808" y="233172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Reduces spectral leakage on fast-time axis (256 pts)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2926080"/>
            <a:ext cx="4206240" cy="960120"/>
          </a:xfrm>
          <a:prstGeom prst="rect">
            <a:avLst/>
          </a:prstGeom>
          <a:solidFill>
            <a:srgbClr val="E0EAF0"/>
          </a:solidFill>
          <a:ln w="12700">
            <a:solidFill>
              <a:srgbClr val="E0EA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3182112"/>
            <a:ext cx="457200" cy="45720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182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1808" y="299008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</a:rPr>
              <a:t>FFT  (axis = 2)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321808" y="338328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np.fft.fft(windowed, axis=2) → range bins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3977640"/>
            <a:ext cx="4206240" cy="960120"/>
          </a:xfrm>
          <a:prstGeom prst="rect">
            <a:avLst/>
          </a:prstGeom>
          <a:solidFill>
            <a:srgbClr val="E0EAF0"/>
          </a:solidFill>
          <a:ln w="12700">
            <a:solidFill>
              <a:srgbClr val="E0EA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4233672"/>
            <a:ext cx="457200" cy="45720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21808" y="404164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</a:rPr>
              <a:t>Use first N/2 bins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321808" y="443484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Negative frequencies are mirrors — discard second half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Range Calibration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3977640"/>
          </a:xfrm>
          <a:prstGeom prst="rect">
            <a:avLst/>
          </a:prstGeom>
          <a:solidFill>
            <a:srgbClr val="E0EAF0"/>
          </a:solidFill>
          <a:ln w="12700">
            <a:solidFill>
              <a:srgbClr val="E0EA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Range Resolution Formula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3794760" cy="1143000"/>
          </a:xfrm>
          <a:prstGeom prst="rect">
            <a:avLst/>
          </a:prstGeom>
          <a:solidFill>
            <a:srgbClr val="FFE5E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3502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91C1C"/>
                </a:solidFill>
              </a:rPr>
              <a:t>❌  Previous approach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160934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1D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Δr  =  c / (2B)     where B = slope × ramp_time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90195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91C1C"/>
                </a:solidFill>
              </a:rPr>
              <a:t>Inaccurate — ignores ADC sampling rate &amp; FFT length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2560320"/>
            <a:ext cx="3794760" cy="1234440"/>
          </a:xfrm>
          <a:prstGeom prst="rect">
            <a:avLst/>
          </a:prstGeom>
          <a:solidFill>
            <a:srgbClr val="E6F7F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59689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F46"/>
                </a:solidFill>
              </a:rPr>
              <a:t>✔  Current correct formula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287121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4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Δr  =  (c × fs) / (2 × slope × N)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154680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65F46"/>
                </a:solidFill>
              </a:rPr>
              <a:t>c = 3×10⁸ m/s  |  fs = 10 MHz  |  N = 256  |  slope = 29.982 THz/s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3886200"/>
            <a:ext cx="379476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913632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0E0EF"/>
                </a:solidFill>
              </a:rPr>
              <a:t>Result:  each FFT bin = one range_res step in metres</a:t>
            </a:r>
            <a:endParaRPr lang="en-US" sz="105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0544AD35-7C75-51FA-4168-9DE3D180D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741710"/>
            <a:ext cx="4384585" cy="1855186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23F0D045-A60F-5CE9-66D2-73F43F3A5F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8272" y="2919569"/>
            <a:ext cx="4236874" cy="1988125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1168F1C9-F5DE-D8BC-C5D3-999E13F6CA94}"/>
              </a:ext>
            </a:extLst>
          </p:cNvPr>
          <p:cNvSpPr txBox="1"/>
          <p:nvPr/>
        </p:nvSpPr>
        <p:spPr>
          <a:xfrm>
            <a:off x="4944794" y="2560320"/>
            <a:ext cx="32988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100" dirty="0"/>
              <a:t>Range FFT (previous formula)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0B56F26-0AB0-C477-BA6E-5FC3A56B078E}"/>
              </a:ext>
            </a:extLst>
          </p:cNvPr>
          <p:cNvSpPr txBox="1"/>
          <p:nvPr/>
        </p:nvSpPr>
        <p:spPr>
          <a:xfrm>
            <a:off x="5023415" y="4874528"/>
            <a:ext cx="32988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100" dirty="0"/>
              <a:t>Range FFT (Updated formula)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3AC0CA-A958-A990-03E6-CCC376079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C9D3F-FE70-18E9-C6DE-40A37EE5BDA2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74060C9-7787-322C-9355-A30DFD91C09A}"/>
              </a:ext>
            </a:extLst>
          </p:cNvPr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Output Visualization</a:t>
            </a:r>
            <a:endParaRPr lang="en-US" sz="2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96791A4-4F11-4792-27D7-2B2807409E83}"/>
              </a:ext>
            </a:extLst>
          </p:cNvPr>
          <p:cNvSpPr/>
          <p:nvPr/>
        </p:nvSpPr>
        <p:spPr>
          <a:xfrm>
            <a:off x="1371600" y="22860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Radar Data Cube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[ chirps × 4 RX × 256 ]</a:t>
            </a:r>
            <a:endParaRPr lang="en-US" sz="1100" dirty="0"/>
          </a:p>
        </p:txBody>
      </p:sp>
      <p:sp>
        <p:nvSpPr>
          <p:cNvPr id="31" name="Shape 14">
            <a:extLst>
              <a:ext uri="{FF2B5EF4-FFF2-40B4-BE49-F238E27FC236}">
                <a16:creationId xmlns:a16="http://schemas.microsoft.com/office/drawing/2014/main" id="{62ABF6C8-E7CF-7AFD-157A-489557C8F7CE}"/>
              </a:ext>
            </a:extLst>
          </p:cNvPr>
          <p:cNvSpPr/>
          <p:nvPr/>
        </p:nvSpPr>
        <p:spPr>
          <a:xfrm>
            <a:off x="4617720" y="822960"/>
            <a:ext cx="4251960" cy="3977640"/>
          </a:xfrm>
          <a:prstGeom prst="rect">
            <a:avLst/>
          </a:prstGeom>
          <a:solidFill>
            <a:srgbClr val="F0F8FF"/>
          </a:solidFill>
          <a:ln w="12700">
            <a:solidFill>
              <a:srgbClr val="E0EAF0"/>
            </a:solidFill>
            <a:prstDash val="solid"/>
          </a:ln>
        </p:spPr>
      </p:sp>
      <p:pic>
        <p:nvPicPr>
          <p:cNvPr id="32" name="Image 0" descr="preencoded.png">
            <a:extLst>
              <a:ext uri="{FF2B5EF4-FFF2-40B4-BE49-F238E27FC236}">
                <a16:creationId xmlns:a16="http://schemas.microsoft.com/office/drawing/2014/main" id="{5D06B494-D897-688C-E39A-CDAD517C5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886968"/>
            <a:ext cx="347472" cy="347472"/>
          </a:xfrm>
          <a:prstGeom prst="rect">
            <a:avLst/>
          </a:prstGeom>
        </p:spPr>
      </p:pic>
      <p:sp>
        <p:nvSpPr>
          <p:cNvPr id="33" name="Text 15">
            <a:extLst>
              <a:ext uri="{FF2B5EF4-FFF2-40B4-BE49-F238E27FC236}">
                <a16:creationId xmlns:a16="http://schemas.microsoft.com/office/drawing/2014/main" id="{F6B352BA-76AD-495C-0C97-91195119EF86}"/>
              </a:ext>
            </a:extLst>
          </p:cNvPr>
          <p:cNvSpPr/>
          <p:nvPr/>
        </p:nvSpPr>
        <p:spPr>
          <a:xfrm>
            <a:off x="5193792" y="8686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Animated Range Profile  (.mp4)</a:t>
            </a:r>
            <a:endParaRPr lang="en-US" sz="1300" dirty="0"/>
          </a:p>
        </p:txBody>
      </p:sp>
      <p:sp>
        <p:nvSpPr>
          <p:cNvPr id="34" name="Shape 16">
            <a:extLst>
              <a:ext uri="{FF2B5EF4-FFF2-40B4-BE49-F238E27FC236}">
                <a16:creationId xmlns:a16="http://schemas.microsoft.com/office/drawing/2014/main" id="{ED3514C4-CA4C-40BC-447D-1316D991D796}"/>
              </a:ext>
            </a:extLst>
          </p:cNvPr>
          <p:cNvSpPr/>
          <p:nvPr/>
        </p:nvSpPr>
        <p:spPr>
          <a:xfrm>
            <a:off x="4754880" y="1371600"/>
            <a:ext cx="109728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5" name="Text 17">
            <a:extLst>
              <a:ext uri="{FF2B5EF4-FFF2-40B4-BE49-F238E27FC236}">
                <a16:creationId xmlns:a16="http://schemas.microsoft.com/office/drawing/2014/main" id="{C576A114-4BD4-595D-868F-C0D705A72214}"/>
              </a:ext>
            </a:extLst>
          </p:cNvPr>
          <p:cNvSpPr/>
          <p:nvPr/>
        </p:nvSpPr>
        <p:spPr>
          <a:xfrm>
            <a:off x="4754880" y="137160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x-axis</a:t>
            </a:r>
            <a:endParaRPr lang="en-US" sz="900" dirty="0"/>
          </a:p>
        </p:txBody>
      </p:sp>
      <p:sp>
        <p:nvSpPr>
          <p:cNvPr id="36" name="Text 18">
            <a:extLst>
              <a:ext uri="{FF2B5EF4-FFF2-40B4-BE49-F238E27FC236}">
                <a16:creationId xmlns:a16="http://schemas.microsoft.com/office/drawing/2014/main" id="{2DA27C98-851B-BFE3-7810-2C84901A3052}"/>
              </a:ext>
            </a:extLst>
          </p:cNvPr>
          <p:cNvSpPr/>
          <p:nvPr/>
        </p:nvSpPr>
        <p:spPr>
          <a:xfrm>
            <a:off x="5925312" y="137160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B38"/>
                </a:solidFill>
              </a:rPr>
              <a:t>Range in metres  (calibrated bins × Δr)</a:t>
            </a:r>
            <a:endParaRPr lang="en-US" sz="1000" dirty="0"/>
          </a:p>
        </p:txBody>
      </p:sp>
      <p:sp>
        <p:nvSpPr>
          <p:cNvPr id="37" name="Shape 19">
            <a:extLst>
              <a:ext uri="{FF2B5EF4-FFF2-40B4-BE49-F238E27FC236}">
                <a16:creationId xmlns:a16="http://schemas.microsoft.com/office/drawing/2014/main" id="{7B913CEE-CF07-C899-613D-DECDF077D3DB}"/>
              </a:ext>
            </a:extLst>
          </p:cNvPr>
          <p:cNvSpPr/>
          <p:nvPr/>
        </p:nvSpPr>
        <p:spPr>
          <a:xfrm>
            <a:off x="4754880" y="1938528"/>
            <a:ext cx="109728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8" name="Text 20">
            <a:extLst>
              <a:ext uri="{FF2B5EF4-FFF2-40B4-BE49-F238E27FC236}">
                <a16:creationId xmlns:a16="http://schemas.microsoft.com/office/drawing/2014/main" id="{94115EF9-4A2A-91AD-112E-71A6207C7D09}"/>
              </a:ext>
            </a:extLst>
          </p:cNvPr>
          <p:cNvSpPr/>
          <p:nvPr/>
        </p:nvSpPr>
        <p:spPr>
          <a:xfrm>
            <a:off x="4754880" y="193852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y-axis</a:t>
            </a:r>
            <a:endParaRPr lang="en-US" sz="900" dirty="0"/>
          </a:p>
        </p:txBody>
      </p:sp>
      <p:sp>
        <p:nvSpPr>
          <p:cNvPr id="39" name="Text 21">
            <a:extLst>
              <a:ext uri="{FF2B5EF4-FFF2-40B4-BE49-F238E27FC236}">
                <a16:creationId xmlns:a16="http://schemas.microsoft.com/office/drawing/2014/main" id="{AE989523-3B47-0D6A-345F-4331D408C78C}"/>
              </a:ext>
            </a:extLst>
          </p:cNvPr>
          <p:cNvSpPr/>
          <p:nvPr/>
        </p:nvSpPr>
        <p:spPr>
          <a:xfrm>
            <a:off x="5925312" y="193852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B38"/>
                </a:solidFill>
              </a:rPr>
              <a:t>Magnitude — fixed scale using global_max</a:t>
            </a:r>
            <a:endParaRPr lang="en-US" sz="1000" dirty="0"/>
          </a:p>
        </p:txBody>
      </p:sp>
      <p:sp>
        <p:nvSpPr>
          <p:cNvPr id="40" name="Shape 22">
            <a:extLst>
              <a:ext uri="{FF2B5EF4-FFF2-40B4-BE49-F238E27FC236}">
                <a16:creationId xmlns:a16="http://schemas.microsoft.com/office/drawing/2014/main" id="{0D4CC6F0-90F5-5015-F87E-7E595E482249}"/>
              </a:ext>
            </a:extLst>
          </p:cNvPr>
          <p:cNvSpPr/>
          <p:nvPr/>
        </p:nvSpPr>
        <p:spPr>
          <a:xfrm>
            <a:off x="4754880" y="2505456"/>
            <a:ext cx="109728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1" name="Text 23">
            <a:extLst>
              <a:ext uri="{FF2B5EF4-FFF2-40B4-BE49-F238E27FC236}">
                <a16:creationId xmlns:a16="http://schemas.microsoft.com/office/drawing/2014/main" id="{C2CA982F-C9FC-2982-05A2-8025B1CE03A5}"/>
              </a:ext>
            </a:extLst>
          </p:cNvPr>
          <p:cNvSpPr/>
          <p:nvPr/>
        </p:nvSpPr>
        <p:spPr>
          <a:xfrm>
            <a:off x="4754880" y="2505456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Frame step</a:t>
            </a:r>
            <a:endParaRPr lang="en-US" sz="900" dirty="0"/>
          </a:p>
        </p:txBody>
      </p:sp>
      <p:sp>
        <p:nvSpPr>
          <p:cNvPr id="42" name="Text 24">
            <a:extLst>
              <a:ext uri="{FF2B5EF4-FFF2-40B4-BE49-F238E27FC236}">
                <a16:creationId xmlns:a16="http://schemas.microsoft.com/office/drawing/2014/main" id="{1990B23A-7397-463E-0154-324E82E9E7CD}"/>
              </a:ext>
            </a:extLst>
          </p:cNvPr>
          <p:cNvSpPr/>
          <p:nvPr/>
        </p:nvSpPr>
        <p:spPr>
          <a:xfrm>
            <a:off x="5925312" y="2505456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B38"/>
                </a:solidFill>
              </a:rPr>
              <a:t>Every 20th chirp  →  10 fps output</a:t>
            </a:r>
            <a:endParaRPr lang="en-US" sz="1000" dirty="0"/>
          </a:p>
        </p:txBody>
      </p:sp>
      <p:sp>
        <p:nvSpPr>
          <p:cNvPr id="43" name="Shape 25">
            <a:extLst>
              <a:ext uri="{FF2B5EF4-FFF2-40B4-BE49-F238E27FC236}">
                <a16:creationId xmlns:a16="http://schemas.microsoft.com/office/drawing/2014/main" id="{75D534B8-280F-49E6-4583-68D638860891}"/>
              </a:ext>
            </a:extLst>
          </p:cNvPr>
          <p:cNvSpPr/>
          <p:nvPr/>
        </p:nvSpPr>
        <p:spPr>
          <a:xfrm>
            <a:off x="4754880" y="3072384"/>
            <a:ext cx="109728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4" name="Text 26">
            <a:extLst>
              <a:ext uri="{FF2B5EF4-FFF2-40B4-BE49-F238E27FC236}">
                <a16:creationId xmlns:a16="http://schemas.microsoft.com/office/drawing/2014/main" id="{82C71757-D87E-B370-82AB-CBB50FA1FAD9}"/>
              </a:ext>
            </a:extLst>
          </p:cNvPr>
          <p:cNvSpPr/>
          <p:nvPr/>
        </p:nvSpPr>
        <p:spPr>
          <a:xfrm>
            <a:off x="4754880" y="307238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Max range shown</a:t>
            </a:r>
            <a:endParaRPr lang="en-US" sz="900" dirty="0"/>
          </a:p>
        </p:txBody>
      </p:sp>
      <p:sp>
        <p:nvSpPr>
          <p:cNvPr id="45" name="Text 27">
            <a:extLst>
              <a:ext uri="{FF2B5EF4-FFF2-40B4-BE49-F238E27FC236}">
                <a16:creationId xmlns:a16="http://schemas.microsoft.com/office/drawing/2014/main" id="{002AAFCB-6081-6803-7255-C693BBB598CB}"/>
              </a:ext>
            </a:extLst>
          </p:cNvPr>
          <p:cNvSpPr/>
          <p:nvPr/>
        </p:nvSpPr>
        <p:spPr>
          <a:xfrm>
            <a:off x="5925312" y="3072384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B38"/>
                </a:solidFill>
              </a:rPr>
              <a:t>5 m  (only valid distance bins plotted)</a:t>
            </a:r>
            <a:endParaRPr lang="en-US" sz="1000" dirty="0"/>
          </a:p>
        </p:txBody>
      </p:sp>
      <p:sp>
        <p:nvSpPr>
          <p:cNvPr id="46" name="Shape 28">
            <a:extLst>
              <a:ext uri="{FF2B5EF4-FFF2-40B4-BE49-F238E27FC236}">
                <a16:creationId xmlns:a16="http://schemas.microsoft.com/office/drawing/2014/main" id="{AC2BF518-74B2-934B-FB6B-B4B29541C966}"/>
              </a:ext>
            </a:extLst>
          </p:cNvPr>
          <p:cNvSpPr/>
          <p:nvPr/>
        </p:nvSpPr>
        <p:spPr>
          <a:xfrm>
            <a:off x="4754880" y="3639312"/>
            <a:ext cx="109728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7" name="Text 29">
            <a:extLst>
              <a:ext uri="{FF2B5EF4-FFF2-40B4-BE49-F238E27FC236}">
                <a16:creationId xmlns:a16="http://schemas.microsoft.com/office/drawing/2014/main" id="{F1FA7366-623C-195B-B733-89EF4B2E4091}"/>
              </a:ext>
            </a:extLst>
          </p:cNvPr>
          <p:cNvSpPr/>
          <p:nvPr/>
        </p:nvSpPr>
        <p:spPr>
          <a:xfrm>
            <a:off x="4754880" y="363931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Clutter removal</a:t>
            </a:r>
            <a:endParaRPr lang="en-US" sz="900" dirty="0"/>
          </a:p>
        </p:txBody>
      </p:sp>
      <p:sp>
        <p:nvSpPr>
          <p:cNvPr id="48" name="Text 30">
            <a:extLst>
              <a:ext uri="{FF2B5EF4-FFF2-40B4-BE49-F238E27FC236}">
                <a16:creationId xmlns:a16="http://schemas.microsoft.com/office/drawing/2014/main" id="{35976D05-24C7-1A13-E37B-1F0521E3A557}"/>
              </a:ext>
            </a:extLst>
          </p:cNvPr>
          <p:cNvSpPr/>
          <p:nvPr/>
        </p:nvSpPr>
        <p:spPr>
          <a:xfrm>
            <a:off x="5925312" y="363931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B38"/>
                </a:solidFill>
              </a:rPr>
              <a:t>Mean subtraction across chirps in heatmap</a:t>
            </a:r>
            <a:endParaRPr lang="en-US" sz="1000" dirty="0"/>
          </a:p>
        </p:txBody>
      </p:sp>
      <p:sp>
        <p:nvSpPr>
          <p:cNvPr id="49" name="Shape 31">
            <a:extLst>
              <a:ext uri="{FF2B5EF4-FFF2-40B4-BE49-F238E27FC236}">
                <a16:creationId xmlns:a16="http://schemas.microsoft.com/office/drawing/2014/main" id="{7DF7A10C-0FCB-2FD9-ED3C-1FF84A148855}"/>
              </a:ext>
            </a:extLst>
          </p:cNvPr>
          <p:cNvSpPr/>
          <p:nvPr/>
        </p:nvSpPr>
        <p:spPr>
          <a:xfrm>
            <a:off x="4754880" y="4187952"/>
            <a:ext cx="3931920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0" name="Text 32">
            <a:extLst>
              <a:ext uri="{FF2B5EF4-FFF2-40B4-BE49-F238E27FC236}">
                <a16:creationId xmlns:a16="http://schemas.microsoft.com/office/drawing/2014/main" id="{276B6A9D-C04F-3B87-643E-9D7FFE34152B}"/>
              </a:ext>
            </a:extLst>
          </p:cNvPr>
          <p:cNvSpPr/>
          <p:nvPr/>
        </p:nvSpPr>
        <p:spPr>
          <a:xfrm>
            <a:off x="4754880" y="418795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Output: vid_test_may292nddata.mp4</a:t>
            </a:r>
            <a:endParaRPr lang="en-US" sz="950" dirty="0"/>
          </a:p>
        </p:txBody>
      </p:sp>
      <p:sp>
        <p:nvSpPr>
          <p:cNvPr id="51" name="Shape 29">
            <a:extLst>
              <a:ext uri="{FF2B5EF4-FFF2-40B4-BE49-F238E27FC236}">
                <a16:creationId xmlns:a16="http://schemas.microsoft.com/office/drawing/2014/main" id="{D262E5A7-0D4A-3E69-7F86-FD7717F1B4F5}"/>
              </a:ext>
            </a:extLst>
          </p:cNvPr>
          <p:cNvSpPr/>
          <p:nvPr/>
        </p:nvSpPr>
        <p:spPr>
          <a:xfrm>
            <a:off x="169164" y="822960"/>
            <a:ext cx="4160520" cy="3977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r>
              <a:rPr lang="en-IN" sz="800" dirty="0">
                <a:solidFill>
                  <a:schemeClr val="bg1"/>
                </a:solidFill>
              </a:rPr>
              <a:t>def animate_line_mp4(</a:t>
            </a:r>
            <a:r>
              <a:rPr lang="en-IN" sz="800" dirty="0" err="1">
                <a:solidFill>
                  <a:schemeClr val="bg1"/>
                </a:solidFill>
              </a:rPr>
              <a:t>fft_cube</a:t>
            </a:r>
            <a:r>
              <a:rPr lang="en-IN" sz="800" dirty="0">
                <a:solidFill>
                  <a:schemeClr val="bg1"/>
                </a:solidFill>
              </a:rPr>
              <a:t>, </a:t>
            </a:r>
            <a:r>
              <a:rPr lang="en-IN" sz="800" dirty="0" err="1">
                <a:solidFill>
                  <a:schemeClr val="bg1"/>
                </a:solidFill>
              </a:rPr>
              <a:t>ranges,name</a:t>
            </a:r>
            <a:r>
              <a:rPr lang="en-IN" sz="800" dirty="0">
                <a:solidFill>
                  <a:schemeClr val="bg1"/>
                </a:solidFill>
              </a:rPr>
              <a:t>):</a:t>
            </a:r>
          </a:p>
          <a:p>
            <a:r>
              <a:rPr lang="en-IN" sz="800" dirty="0">
                <a:solidFill>
                  <a:schemeClr val="bg1"/>
                </a:solidFill>
              </a:rPr>
              <a:t>    fig, </a:t>
            </a:r>
            <a:r>
              <a:rPr lang="en-IN" sz="800" dirty="0" err="1">
                <a:solidFill>
                  <a:schemeClr val="bg1"/>
                </a:solidFill>
              </a:rPr>
              <a:t>ax</a:t>
            </a:r>
            <a:r>
              <a:rPr lang="en-IN" sz="800" dirty="0">
                <a:solidFill>
                  <a:schemeClr val="bg1"/>
                </a:solidFill>
              </a:rPr>
              <a:t> = </a:t>
            </a:r>
            <a:r>
              <a:rPr lang="en-IN" sz="800" dirty="0" err="1">
                <a:solidFill>
                  <a:schemeClr val="bg1"/>
                </a:solidFill>
              </a:rPr>
              <a:t>plt.subplots</a:t>
            </a:r>
            <a:r>
              <a:rPr lang="en-IN" sz="800" dirty="0">
                <a:solidFill>
                  <a:schemeClr val="bg1"/>
                </a:solidFill>
              </a:rPr>
              <a:t>()</a:t>
            </a:r>
          </a:p>
          <a:p>
            <a:r>
              <a:rPr lang="en-IN" sz="800" dirty="0">
                <a:solidFill>
                  <a:schemeClr val="bg1"/>
                </a:solidFill>
              </a:rPr>
              <a:t>    </a:t>
            </a:r>
            <a:r>
              <a:rPr lang="en-IN" sz="800" dirty="0" err="1">
                <a:solidFill>
                  <a:schemeClr val="bg1"/>
                </a:solidFill>
              </a:rPr>
              <a:t>num_bins</a:t>
            </a:r>
            <a:r>
              <a:rPr lang="en-IN" sz="800" dirty="0">
                <a:solidFill>
                  <a:schemeClr val="bg1"/>
                </a:solidFill>
              </a:rPr>
              <a:t> = </a:t>
            </a:r>
            <a:r>
              <a:rPr lang="en-IN" sz="800" dirty="0" err="1">
                <a:solidFill>
                  <a:schemeClr val="bg1"/>
                </a:solidFill>
              </a:rPr>
              <a:t>fft_cube.shape</a:t>
            </a:r>
            <a:r>
              <a:rPr lang="en-IN" sz="800" dirty="0">
                <a:solidFill>
                  <a:schemeClr val="bg1"/>
                </a:solidFill>
              </a:rPr>
              <a:t>[2] // 2</a:t>
            </a:r>
          </a:p>
          <a:p>
            <a:endParaRPr lang="en-IN" sz="800" dirty="0">
              <a:solidFill>
                <a:schemeClr val="bg1"/>
              </a:solidFill>
            </a:endParaRPr>
          </a:p>
          <a:p>
            <a:r>
              <a:rPr lang="en-IN" sz="800" dirty="0">
                <a:solidFill>
                  <a:schemeClr val="bg1"/>
                </a:solidFill>
              </a:rPr>
              <a:t>    # Find bins within 0–n meters</a:t>
            </a:r>
          </a:p>
          <a:p>
            <a:r>
              <a:rPr lang="en-IN" sz="800" dirty="0">
                <a:solidFill>
                  <a:schemeClr val="bg1"/>
                </a:solidFill>
              </a:rPr>
              <a:t>    </a:t>
            </a:r>
            <a:r>
              <a:rPr lang="en-IN" sz="800" dirty="0" err="1">
                <a:solidFill>
                  <a:schemeClr val="bg1"/>
                </a:solidFill>
              </a:rPr>
              <a:t>max_range</a:t>
            </a:r>
            <a:r>
              <a:rPr lang="en-IN" sz="800" dirty="0">
                <a:solidFill>
                  <a:schemeClr val="bg1"/>
                </a:solidFill>
              </a:rPr>
              <a:t> = 5 # meters</a:t>
            </a:r>
          </a:p>
          <a:p>
            <a:r>
              <a:rPr lang="en-IN" sz="800" dirty="0">
                <a:solidFill>
                  <a:schemeClr val="bg1"/>
                </a:solidFill>
              </a:rPr>
              <a:t>    </a:t>
            </a:r>
            <a:r>
              <a:rPr lang="en-IN" sz="800" dirty="0" err="1">
                <a:solidFill>
                  <a:schemeClr val="bg1"/>
                </a:solidFill>
              </a:rPr>
              <a:t>valid_bins</a:t>
            </a:r>
            <a:r>
              <a:rPr lang="en-IN" sz="800" dirty="0">
                <a:solidFill>
                  <a:schemeClr val="bg1"/>
                </a:solidFill>
              </a:rPr>
              <a:t> = </a:t>
            </a:r>
            <a:r>
              <a:rPr lang="en-IN" sz="800" dirty="0" err="1">
                <a:solidFill>
                  <a:schemeClr val="bg1"/>
                </a:solidFill>
              </a:rPr>
              <a:t>np.where</a:t>
            </a:r>
            <a:r>
              <a:rPr lang="en-IN" sz="800" dirty="0">
                <a:solidFill>
                  <a:schemeClr val="bg1"/>
                </a:solidFill>
              </a:rPr>
              <a:t>(ranges &lt;= </a:t>
            </a:r>
            <a:r>
              <a:rPr lang="en-IN" sz="800" dirty="0" err="1">
                <a:solidFill>
                  <a:schemeClr val="bg1"/>
                </a:solidFill>
              </a:rPr>
              <a:t>max_range</a:t>
            </a:r>
            <a:r>
              <a:rPr lang="en-IN" sz="800" dirty="0">
                <a:solidFill>
                  <a:schemeClr val="bg1"/>
                </a:solidFill>
              </a:rPr>
              <a:t>)[0]</a:t>
            </a:r>
          </a:p>
          <a:p>
            <a:r>
              <a:rPr lang="en-IN" sz="800" dirty="0">
                <a:solidFill>
                  <a:schemeClr val="bg1"/>
                </a:solidFill>
              </a:rPr>
              <a:t>    </a:t>
            </a:r>
            <a:r>
              <a:rPr lang="en-IN" sz="800" dirty="0" err="1">
                <a:solidFill>
                  <a:schemeClr val="bg1"/>
                </a:solidFill>
              </a:rPr>
              <a:t>max_bin</a:t>
            </a:r>
            <a:r>
              <a:rPr lang="en-IN" sz="800" dirty="0">
                <a:solidFill>
                  <a:schemeClr val="bg1"/>
                </a:solidFill>
              </a:rPr>
              <a:t> = </a:t>
            </a:r>
            <a:r>
              <a:rPr lang="en-IN" sz="800" dirty="0" err="1">
                <a:solidFill>
                  <a:schemeClr val="bg1"/>
                </a:solidFill>
              </a:rPr>
              <a:t>valid_bins</a:t>
            </a:r>
            <a:r>
              <a:rPr lang="en-IN" sz="800" dirty="0">
                <a:solidFill>
                  <a:schemeClr val="bg1"/>
                </a:solidFill>
              </a:rPr>
              <a:t>[-1]</a:t>
            </a:r>
          </a:p>
          <a:p>
            <a:endParaRPr lang="en-IN" sz="800" dirty="0">
              <a:solidFill>
                <a:schemeClr val="bg1"/>
              </a:solidFill>
            </a:endParaRPr>
          </a:p>
          <a:p>
            <a:r>
              <a:rPr lang="en-IN" sz="800" dirty="0">
                <a:solidFill>
                  <a:schemeClr val="bg1"/>
                </a:solidFill>
              </a:rPr>
              <a:t>    #  Precompute global max ONLY for this region</a:t>
            </a:r>
          </a:p>
          <a:p>
            <a:r>
              <a:rPr lang="en-IN" sz="800" dirty="0">
                <a:solidFill>
                  <a:schemeClr val="bg1"/>
                </a:solidFill>
              </a:rPr>
              <a:t>    </a:t>
            </a:r>
            <a:r>
              <a:rPr lang="en-IN" sz="800" dirty="0" err="1">
                <a:solidFill>
                  <a:schemeClr val="bg1"/>
                </a:solidFill>
              </a:rPr>
              <a:t>global_max</a:t>
            </a:r>
            <a:r>
              <a:rPr lang="en-IN" sz="800" dirty="0">
                <a:solidFill>
                  <a:schemeClr val="bg1"/>
                </a:solidFill>
              </a:rPr>
              <a:t> = </a:t>
            </a:r>
            <a:r>
              <a:rPr lang="en-IN" sz="800" dirty="0" err="1">
                <a:solidFill>
                  <a:schemeClr val="bg1"/>
                </a:solidFill>
              </a:rPr>
              <a:t>np.max</a:t>
            </a:r>
            <a:r>
              <a:rPr lang="en-IN" sz="800" dirty="0">
                <a:solidFill>
                  <a:schemeClr val="bg1"/>
                </a:solidFill>
              </a:rPr>
              <a:t>(</a:t>
            </a:r>
            <a:r>
              <a:rPr lang="en-IN" sz="800" dirty="0" err="1">
                <a:solidFill>
                  <a:schemeClr val="bg1"/>
                </a:solidFill>
              </a:rPr>
              <a:t>np.abs</a:t>
            </a:r>
            <a:r>
              <a:rPr lang="en-IN" sz="800" dirty="0">
                <a:solidFill>
                  <a:schemeClr val="bg1"/>
                </a:solidFill>
              </a:rPr>
              <a:t>(</a:t>
            </a:r>
            <a:r>
              <a:rPr lang="en-IN" sz="800" dirty="0" err="1">
                <a:solidFill>
                  <a:schemeClr val="bg1"/>
                </a:solidFill>
              </a:rPr>
              <a:t>fft_cube</a:t>
            </a:r>
            <a:r>
              <a:rPr lang="en-IN" sz="800" dirty="0">
                <a:solidFill>
                  <a:schemeClr val="bg1"/>
                </a:solidFill>
              </a:rPr>
              <a:t>[:, 0, :</a:t>
            </a:r>
            <a:r>
              <a:rPr lang="en-IN" sz="800" dirty="0" err="1">
                <a:solidFill>
                  <a:schemeClr val="bg1"/>
                </a:solidFill>
              </a:rPr>
              <a:t>max_bin</a:t>
            </a:r>
            <a:r>
              <a:rPr lang="en-IN" sz="800" dirty="0">
                <a:solidFill>
                  <a:schemeClr val="bg1"/>
                </a:solidFill>
              </a:rPr>
              <a:t>]))</a:t>
            </a:r>
          </a:p>
          <a:p>
            <a:endParaRPr lang="en-IN" sz="800" dirty="0">
              <a:solidFill>
                <a:schemeClr val="bg1"/>
              </a:solidFill>
            </a:endParaRPr>
          </a:p>
          <a:p>
            <a:r>
              <a:rPr lang="en-IN" sz="800" dirty="0">
                <a:solidFill>
                  <a:schemeClr val="bg1"/>
                </a:solidFill>
              </a:rPr>
              <a:t>    line, = </a:t>
            </a:r>
            <a:r>
              <a:rPr lang="en-IN" sz="800" dirty="0" err="1">
                <a:solidFill>
                  <a:schemeClr val="bg1"/>
                </a:solidFill>
              </a:rPr>
              <a:t>ax.plot</a:t>
            </a:r>
            <a:r>
              <a:rPr lang="en-IN" sz="800" dirty="0">
                <a:solidFill>
                  <a:schemeClr val="bg1"/>
                </a:solidFill>
              </a:rPr>
              <a:t>(ranges[:</a:t>
            </a:r>
            <a:r>
              <a:rPr lang="en-IN" sz="800" dirty="0" err="1">
                <a:solidFill>
                  <a:schemeClr val="bg1"/>
                </a:solidFill>
              </a:rPr>
              <a:t>max_bin</a:t>
            </a:r>
            <a:r>
              <a:rPr lang="en-IN" sz="800" dirty="0">
                <a:solidFill>
                  <a:schemeClr val="bg1"/>
                </a:solidFill>
              </a:rPr>
              <a:t>], </a:t>
            </a:r>
            <a:r>
              <a:rPr lang="en-IN" sz="800" dirty="0" err="1">
                <a:solidFill>
                  <a:schemeClr val="bg1"/>
                </a:solidFill>
              </a:rPr>
              <a:t>np.zeros</a:t>
            </a:r>
            <a:r>
              <a:rPr lang="en-IN" sz="800" dirty="0">
                <a:solidFill>
                  <a:schemeClr val="bg1"/>
                </a:solidFill>
              </a:rPr>
              <a:t>(</a:t>
            </a:r>
            <a:r>
              <a:rPr lang="en-IN" sz="800" dirty="0" err="1">
                <a:solidFill>
                  <a:schemeClr val="bg1"/>
                </a:solidFill>
              </a:rPr>
              <a:t>max_bin</a:t>
            </a:r>
            <a:r>
              <a:rPr lang="en-IN" sz="800" dirty="0">
                <a:solidFill>
                  <a:schemeClr val="bg1"/>
                </a:solidFill>
              </a:rPr>
              <a:t>))</a:t>
            </a:r>
          </a:p>
          <a:p>
            <a:endParaRPr lang="en-IN" sz="800" dirty="0">
              <a:solidFill>
                <a:schemeClr val="bg1"/>
              </a:solidFill>
            </a:endParaRPr>
          </a:p>
          <a:p>
            <a:r>
              <a:rPr lang="en-IN" sz="800" dirty="0">
                <a:solidFill>
                  <a:schemeClr val="bg1"/>
                </a:solidFill>
              </a:rPr>
              <a:t>    #  Fix axes</a:t>
            </a:r>
          </a:p>
          <a:p>
            <a:r>
              <a:rPr lang="en-IN" sz="800" dirty="0">
                <a:solidFill>
                  <a:schemeClr val="bg1"/>
                </a:solidFill>
              </a:rPr>
              <a:t>    </a:t>
            </a:r>
            <a:r>
              <a:rPr lang="en-IN" sz="800" dirty="0" err="1">
                <a:solidFill>
                  <a:schemeClr val="bg1"/>
                </a:solidFill>
              </a:rPr>
              <a:t>ax.set_xlim</a:t>
            </a:r>
            <a:r>
              <a:rPr lang="en-IN" sz="800" dirty="0">
                <a:solidFill>
                  <a:schemeClr val="bg1"/>
                </a:solidFill>
              </a:rPr>
              <a:t>(0, </a:t>
            </a:r>
            <a:r>
              <a:rPr lang="en-IN" sz="800" dirty="0" err="1">
                <a:solidFill>
                  <a:schemeClr val="bg1"/>
                </a:solidFill>
              </a:rPr>
              <a:t>max_range</a:t>
            </a:r>
            <a:r>
              <a:rPr lang="en-IN" sz="800" dirty="0">
                <a:solidFill>
                  <a:schemeClr val="bg1"/>
                </a:solidFill>
              </a:rPr>
              <a:t>)</a:t>
            </a:r>
          </a:p>
          <a:p>
            <a:r>
              <a:rPr lang="en-IN" sz="800" dirty="0">
                <a:solidFill>
                  <a:schemeClr val="bg1"/>
                </a:solidFill>
              </a:rPr>
              <a:t>    </a:t>
            </a:r>
            <a:r>
              <a:rPr lang="en-IN" sz="800" dirty="0" err="1">
                <a:solidFill>
                  <a:schemeClr val="bg1"/>
                </a:solidFill>
              </a:rPr>
              <a:t>ax.set_ylim</a:t>
            </a:r>
            <a:r>
              <a:rPr lang="en-IN" sz="800" dirty="0">
                <a:solidFill>
                  <a:schemeClr val="bg1"/>
                </a:solidFill>
              </a:rPr>
              <a:t>(0, </a:t>
            </a:r>
            <a:r>
              <a:rPr lang="en-IN" sz="800" dirty="0" err="1">
                <a:solidFill>
                  <a:schemeClr val="bg1"/>
                </a:solidFill>
              </a:rPr>
              <a:t>global_max</a:t>
            </a:r>
            <a:r>
              <a:rPr lang="en-IN" sz="800" dirty="0">
                <a:solidFill>
                  <a:schemeClr val="bg1"/>
                </a:solidFill>
              </a:rPr>
              <a:t> * 1.2)</a:t>
            </a:r>
          </a:p>
          <a:p>
            <a:endParaRPr lang="en-IN" sz="800" dirty="0">
              <a:solidFill>
                <a:schemeClr val="bg1"/>
              </a:solidFill>
            </a:endParaRPr>
          </a:p>
          <a:p>
            <a:r>
              <a:rPr lang="en-IN" sz="800" dirty="0">
                <a:solidFill>
                  <a:schemeClr val="bg1"/>
                </a:solidFill>
              </a:rPr>
              <a:t>    </a:t>
            </a:r>
            <a:r>
              <a:rPr lang="en-IN" sz="800" dirty="0" err="1">
                <a:solidFill>
                  <a:schemeClr val="bg1"/>
                </a:solidFill>
              </a:rPr>
              <a:t>ax.set_xlabel</a:t>
            </a:r>
            <a:r>
              <a:rPr lang="en-IN" sz="800" dirty="0">
                <a:solidFill>
                  <a:schemeClr val="bg1"/>
                </a:solidFill>
              </a:rPr>
              <a:t>("Range (m)")</a:t>
            </a:r>
          </a:p>
          <a:p>
            <a:r>
              <a:rPr lang="en-IN" sz="800" dirty="0">
                <a:solidFill>
                  <a:schemeClr val="bg1"/>
                </a:solidFill>
              </a:rPr>
              <a:t>    </a:t>
            </a:r>
            <a:r>
              <a:rPr lang="en-IN" sz="800" dirty="0" err="1">
                <a:solidFill>
                  <a:schemeClr val="bg1"/>
                </a:solidFill>
              </a:rPr>
              <a:t>ax.set_ylabel</a:t>
            </a:r>
            <a:r>
              <a:rPr lang="en-IN" sz="800" dirty="0">
                <a:solidFill>
                  <a:schemeClr val="bg1"/>
                </a:solidFill>
              </a:rPr>
              <a:t>("Magnitude")</a:t>
            </a:r>
          </a:p>
          <a:p>
            <a:endParaRPr lang="en-IN" sz="800" dirty="0">
              <a:solidFill>
                <a:schemeClr val="bg1"/>
              </a:solidFill>
            </a:endParaRPr>
          </a:p>
          <a:p>
            <a:r>
              <a:rPr lang="en-IN" sz="800" dirty="0">
                <a:solidFill>
                  <a:schemeClr val="bg1"/>
                </a:solidFill>
              </a:rPr>
              <a:t>    def update(</a:t>
            </a:r>
            <a:r>
              <a:rPr lang="en-IN" sz="800" dirty="0" err="1">
                <a:solidFill>
                  <a:schemeClr val="bg1"/>
                </a:solidFill>
              </a:rPr>
              <a:t>i</a:t>
            </a:r>
            <a:r>
              <a:rPr lang="en-IN" sz="800" dirty="0">
                <a:solidFill>
                  <a:schemeClr val="bg1"/>
                </a:solidFill>
              </a:rPr>
              <a:t>):</a:t>
            </a:r>
          </a:p>
          <a:p>
            <a:r>
              <a:rPr lang="en-IN" sz="800" dirty="0">
                <a:solidFill>
                  <a:schemeClr val="bg1"/>
                </a:solidFill>
              </a:rPr>
              <a:t>        </a:t>
            </a:r>
            <a:r>
              <a:rPr lang="en-IN" sz="800" dirty="0" err="1">
                <a:solidFill>
                  <a:schemeClr val="bg1"/>
                </a:solidFill>
              </a:rPr>
              <a:t>rp</a:t>
            </a:r>
            <a:r>
              <a:rPr lang="en-IN" sz="800" dirty="0">
                <a:solidFill>
                  <a:schemeClr val="bg1"/>
                </a:solidFill>
              </a:rPr>
              <a:t> = </a:t>
            </a:r>
            <a:r>
              <a:rPr lang="en-IN" sz="800" dirty="0" err="1">
                <a:solidFill>
                  <a:schemeClr val="bg1"/>
                </a:solidFill>
              </a:rPr>
              <a:t>np.abs</a:t>
            </a:r>
            <a:r>
              <a:rPr lang="en-IN" sz="800" dirty="0">
                <a:solidFill>
                  <a:schemeClr val="bg1"/>
                </a:solidFill>
              </a:rPr>
              <a:t>(</a:t>
            </a:r>
            <a:r>
              <a:rPr lang="en-IN" sz="800" dirty="0" err="1">
                <a:solidFill>
                  <a:schemeClr val="bg1"/>
                </a:solidFill>
              </a:rPr>
              <a:t>fft_cube</a:t>
            </a:r>
            <a:r>
              <a:rPr lang="en-IN" sz="800" dirty="0">
                <a:solidFill>
                  <a:schemeClr val="bg1"/>
                </a:solidFill>
              </a:rPr>
              <a:t>[</a:t>
            </a:r>
            <a:r>
              <a:rPr lang="en-IN" sz="800" dirty="0" err="1">
                <a:solidFill>
                  <a:schemeClr val="bg1"/>
                </a:solidFill>
              </a:rPr>
              <a:t>i</a:t>
            </a:r>
            <a:r>
              <a:rPr lang="en-IN" sz="800" dirty="0">
                <a:solidFill>
                  <a:schemeClr val="bg1"/>
                </a:solidFill>
              </a:rPr>
              <a:t>, 0, :</a:t>
            </a:r>
            <a:r>
              <a:rPr lang="en-IN" sz="800" dirty="0" err="1">
                <a:solidFill>
                  <a:schemeClr val="bg1"/>
                </a:solidFill>
              </a:rPr>
              <a:t>max_bin</a:t>
            </a:r>
            <a:r>
              <a:rPr lang="en-IN" sz="800" dirty="0">
                <a:solidFill>
                  <a:schemeClr val="bg1"/>
                </a:solidFill>
              </a:rPr>
              <a:t>])</a:t>
            </a:r>
          </a:p>
          <a:p>
            <a:r>
              <a:rPr lang="en-IN" sz="800" dirty="0">
                <a:solidFill>
                  <a:schemeClr val="bg1"/>
                </a:solidFill>
              </a:rPr>
              <a:t>        </a:t>
            </a:r>
            <a:r>
              <a:rPr lang="en-IN" sz="800" dirty="0" err="1">
                <a:solidFill>
                  <a:schemeClr val="bg1"/>
                </a:solidFill>
              </a:rPr>
              <a:t>line.set_ydata</a:t>
            </a:r>
            <a:r>
              <a:rPr lang="en-IN" sz="800" dirty="0">
                <a:solidFill>
                  <a:schemeClr val="bg1"/>
                </a:solidFill>
              </a:rPr>
              <a:t>(</a:t>
            </a:r>
            <a:r>
              <a:rPr lang="en-IN" sz="800" dirty="0" err="1">
                <a:solidFill>
                  <a:schemeClr val="bg1"/>
                </a:solidFill>
              </a:rPr>
              <a:t>rp</a:t>
            </a:r>
            <a:r>
              <a:rPr lang="en-IN" sz="800" dirty="0">
                <a:solidFill>
                  <a:schemeClr val="bg1"/>
                </a:solidFill>
              </a:rPr>
              <a:t>)</a:t>
            </a:r>
          </a:p>
          <a:p>
            <a:endParaRPr lang="en-IN" sz="800" dirty="0">
              <a:solidFill>
                <a:schemeClr val="bg1"/>
              </a:solidFill>
            </a:endParaRPr>
          </a:p>
          <a:p>
            <a:r>
              <a:rPr lang="en-IN" sz="800" dirty="0">
                <a:solidFill>
                  <a:schemeClr val="bg1"/>
                </a:solidFill>
              </a:rPr>
              <a:t>        </a:t>
            </a:r>
            <a:r>
              <a:rPr lang="en-IN" sz="800" dirty="0" err="1">
                <a:solidFill>
                  <a:schemeClr val="bg1"/>
                </a:solidFill>
              </a:rPr>
              <a:t>ax.set_title</a:t>
            </a:r>
            <a:r>
              <a:rPr lang="en-IN" sz="800" dirty="0">
                <a:solidFill>
                  <a:schemeClr val="bg1"/>
                </a:solidFill>
              </a:rPr>
              <a:t>(</a:t>
            </a:r>
            <a:r>
              <a:rPr lang="en-IN" sz="800" dirty="0" err="1">
                <a:solidFill>
                  <a:schemeClr val="bg1"/>
                </a:solidFill>
              </a:rPr>
              <a:t>f"Chirp</a:t>
            </a:r>
            <a:r>
              <a:rPr lang="en-IN" sz="800" dirty="0">
                <a:solidFill>
                  <a:schemeClr val="bg1"/>
                </a:solidFill>
              </a:rPr>
              <a:t> {</a:t>
            </a:r>
            <a:r>
              <a:rPr lang="en-IN" sz="800" dirty="0" err="1">
                <a:solidFill>
                  <a:schemeClr val="bg1"/>
                </a:solidFill>
              </a:rPr>
              <a:t>i</a:t>
            </a:r>
            <a:r>
              <a:rPr lang="en-IN" sz="800" dirty="0">
                <a:solidFill>
                  <a:schemeClr val="bg1"/>
                </a:solidFill>
              </a:rPr>
              <a:t>}")</a:t>
            </a:r>
          </a:p>
          <a:p>
            <a:r>
              <a:rPr lang="en-IN" sz="800" dirty="0">
                <a:solidFill>
                  <a:schemeClr val="bg1"/>
                </a:solidFill>
              </a:rPr>
              <a:t>        return line,</a:t>
            </a:r>
          </a:p>
          <a:p>
            <a:endParaRPr lang="en-IN" sz="800" dirty="0">
              <a:solidFill>
                <a:schemeClr val="bg1"/>
              </a:solidFill>
            </a:endParaRPr>
          </a:p>
          <a:p>
            <a:r>
              <a:rPr lang="en-IN" sz="800" dirty="0">
                <a:solidFill>
                  <a:schemeClr val="bg1"/>
                </a:solidFill>
              </a:rPr>
              <a:t>   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44A2C83-CE2B-6A75-A14B-48DFAD17ABEB}"/>
              </a:ext>
            </a:extLst>
          </p:cNvPr>
          <p:cNvSpPr txBox="1"/>
          <p:nvPr/>
        </p:nvSpPr>
        <p:spPr>
          <a:xfrm>
            <a:off x="2249424" y="3226818"/>
            <a:ext cx="204051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>
                <a:solidFill>
                  <a:schemeClr val="bg1"/>
                </a:solidFill>
              </a:rPr>
              <a:t>ani = </a:t>
            </a:r>
            <a:r>
              <a:rPr lang="en-IN" sz="800" dirty="0" err="1">
                <a:solidFill>
                  <a:schemeClr val="bg1"/>
                </a:solidFill>
              </a:rPr>
              <a:t>animation.FuncAnimation</a:t>
            </a:r>
            <a:r>
              <a:rPr lang="en-IN" sz="800" dirty="0">
                <a:solidFill>
                  <a:schemeClr val="bg1"/>
                </a:solidFill>
              </a:rPr>
              <a:t>(</a:t>
            </a:r>
          </a:p>
          <a:p>
            <a:r>
              <a:rPr lang="en-IN" sz="800" dirty="0">
                <a:solidFill>
                  <a:schemeClr val="bg1"/>
                </a:solidFill>
              </a:rPr>
              <a:t>        fig,</a:t>
            </a:r>
          </a:p>
          <a:p>
            <a:r>
              <a:rPr lang="en-IN" sz="800" dirty="0">
                <a:solidFill>
                  <a:schemeClr val="bg1"/>
                </a:solidFill>
              </a:rPr>
              <a:t>        update,</a:t>
            </a:r>
          </a:p>
          <a:p>
            <a:r>
              <a:rPr lang="en-IN" sz="800" dirty="0">
                <a:solidFill>
                  <a:schemeClr val="bg1"/>
                </a:solidFill>
              </a:rPr>
              <a:t>        frames=range(0, </a:t>
            </a:r>
            <a:r>
              <a:rPr lang="en-IN" sz="800" dirty="0" err="1">
                <a:solidFill>
                  <a:schemeClr val="bg1"/>
                </a:solidFill>
              </a:rPr>
              <a:t>fft_cube.shape</a:t>
            </a:r>
            <a:r>
              <a:rPr lang="en-IN" sz="800" dirty="0">
                <a:solidFill>
                  <a:schemeClr val="bg1"/>
                </a:solidFill>
              </a:rPr>
              <a:t>[0], 20)</a:t>
            </a:r>
          </a:p>
          <a:p>
            <a:r>
              <a:rPr lang="en-IN" sz="800" dirty="0">
                <a:solidFill>
                  <a:schemeClr val="bg1"/>
                </a:solidFill>
              </a:rPr>
              <a:t>    )</a:t>
            </a:r>
          </a:p>
          <a:p>
            <a:endParaRPr lang="en-IN" sz="800" dirty="0">
              <a:solidFill>
                <a:schemeClr val="bg1"/>
              </a:solidFill>
            </a:endParaRPr>
          </a:p>
          <a:p>
            <a:r>
              <a:rPr lang="en-IN" sz="800" dirty="0">
                <a:solidFill>
                  <a:schemeClr val="bg1"/>
                </a:solidFill>
              </a:rPr>
              <a:t>    writer = </a:t>
            </a:r>
            <a:r>
              <a:rPr lang="en-IN" sz="800" dirty="0" err="1">
                <a:solidFill>
                  <a:schemeClr val="bg1"/>
                </a:solidFill>
              </a:rPr>
              <a:t>FFMpegWriter</a:t>
            </a:r>
            <a:r>
              <a:rPr lang="en-IN" sz="800" dirty="0">
                <a:solidFill>
                  <a:schemeClr val="bg1"/>
                </a:solidFill>
              </a:rPr>
              <a:t>(fps=10)</a:t>
            </a:r>
          </a:p>
          <a:p>
            <a:r>
              <a:rPr lang="en-IN" sz="800" dirty="0">
                <a:solidFill>
                  <a:schemeClr val="bg1"/>
                </a:solidFill>
              </a:rPr>
              <a:t>    </a:t>
            </a:r>
            <a:r>
              <a:rPr lang="en-IN" sz="800" dirty="0" err="1">
                <a:solidFill>
                  <a:schemeClr val="bg1"/>
                </a:solidFill>
              </a:rPr>
              <a:t>ani.save</a:t>
            </a:r>
            <a:r>
              <a:rPr lang="en-IN" sz="800" dirty="0">
                <a:solidFill>
                  <a:schemeClr val="bg1"/>
                </a:solidFill>
              </a:rPr>
              <a:t>(name, writer=writer)</a:t>
            </a:r>
          </a:p>
          <a:p>
            <a:endParaRPr lang="en-IN" sz="800" dirty="0">
              <a:solidFill>
                <a:schemeClr val="bg1"/>
              </a:solidFill>
            </a:endParaRPr>
          </a:p>
          <a:p>
            <a:r>
              <a:rPr lang="en-IN" sz="800" dirty="0">
                <a:solidFill>
                  <a:schemeClr val="bg1"/>
                </a:solidFill>
              </a:rPr>
              <a:t>    </a:t>
            </a:r>
            <a:r>
              <a:rPr lang="en-IN" sz="800" dirty="0" err="1">
                <a:solidFill>
                  <a:schemeClr val="bg1"/>
                </a:solidFill>
              </a:rPr>
              <a:t>plt.close</a:t>
            </a:r>
            <a:r>
              <a:rPr lang="en-IN" sz="800" dirty="0">
                <a:solidFill>
                  <a:schemeClr val="bg1"/>
                </a:solidFill>
              </a:rPr>
              <a:t>(fig)</a:t>
            </a:r>
          </a:p>
          <a:p>
            <a:endParaRPr lang="en-IN" sz="800" dirty="0"/>
          </a:p>
        </p:txBody>
      </p:sp>
    </p:spTree>
    <p:extLst>
      <p:ext uri="{BB962C8B-B14F-4D97-AF65-F5344CB8AC3E}">
        <p14:creationId xmlns:p14="http://schemas.microsoft.com/office/powerpoint/2010/main" val="885078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3474720"/>
            <a:ext cx="3200400" cy="3200400"/>
          </a:xfrm>
          <a:prstGeom prst="ellipse">
            <a:avLst/>
          </a:prstGeom>
          <a:solidFill>
            <a:srgbClr val="1E2B38"/>
          </a:solidFill>
          <a:ln w="12700">
            <a:solidFill>
              <a:srgbClr val="1E2B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64592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Summary &amp; Next Steps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4360" y="960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What was achieved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435608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4173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EAF0"/>
                </a:solidFill>
              </a:rPr>
              <a:t>Custom .dcaudp packet parser in Python</a:t>
            </a:r>
            <a:endParaRPr lang="en-US" sz="11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938528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192024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EAF0"/>
                </a:solidFill>
              </a:rPr>
              <a:t>Non-standard [I I Q Q] → complex IQ remap</a:t>
            </a:r>
            <a:endParaRPr lang="en-US" sz="11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441448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0120" y="242316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EAF0"/>
                </a:solidFill>
              </a:rPr>
              <a:t>3D radar cube (chirps × 4 RX × 256 samples)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944368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60120" y="292608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EAF0"/>
                </a:solidFill>
              </a:rPr>
              <a:t>Hanning-windowed Range FFT</a:t>
            </a:r>
            <a:endParaRPr lang="en-US" sz="11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447288"/>
            <a:ext cx="256032" cy="2560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60120" y="342900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EAF0"/>
                </a:solidFill>
              </a:rPr>
              <a:t>Corrected range-bin calibration formula</a:t>
            </a:r>
            <a:endParaRPr lang="en-US" sz="11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950208"/>
            <a:ext cx="256032" cy="25603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60120" y="39319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EAF0"/>
                </a:solidFill>
              </a:rPr>
              <a:t>Animated range profile + heatmap (.mp4)</a:t>
            </a:r>
            <a:endParaRPr lang="en-US" sz="1150" dirty="0"/>
          </a:p>
        </p:txBody>
      </p:sp>
      <p:sp>
        <p:nvSpPr>
          <p:cNvPr id="18" name="Text 10"/>
          <p:cNvSpPr/>
          <p:nvPr/>
        </p:nvSpPr>
        <p:spPr>
          <a:xfrm>
            <a:off x="4663440" y="960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Next steps</a:t>
            </a:r>
            <a:endParaRPr lang="en-US" sz="1400" dirty="0"/>
          </a:p>
        </p:txBody>
      </p:sp>
      <p:sp>
        <p:nvSpPr>
          <p:cNvPr id="19" name="Shape 11"/>
          <p:cNvSpPr/>
          <p:nvPr/>
        </p:nvSpPr>
        <p:spPr>
          <a:xfrm>
            <a:off x="4663440" y="1435608"/>
            <a:ext cx="4023360" cy="777240"/>
          </a:xfrm>
          <a:prstGeom prst="rect">
            <a:avLst/>
          </a:prstGeom>
          <a:solidFill>
            <a:srgbClr val="1E2B38"/>
          </a:solidFill>
          <a:ln w="12700">
            <a:solidFill>
              <a:srgbClr val="1E2B38"/>
            </a:solidFill>
            <a:prstDash val="solid"/>
          </a:ln>
        </p:spPr>
      </p:sp>
      <p:sp>
        <p:nvSpPr>
          <p:cNvPr id="20" name="Shape 12"/>
          <p:cNvSpPr/>
          <p:nvPr/>
        </p:nvSpPr>
        <p:spPr>
          <a:xfrm>
            <a:off x="4663440" y="1435608"/>
            <a:ext cx="64008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3"/>
          <p:cNvSpPr/>
          <p:nvPr/>
        </p:nvSpPr>
        <p:spPr>
          <a:xfrm>
            <a:off x="4800600" y="149961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Doppler FFT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4800600" y="181965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2nd FFT across chirps → velocity axis</a:t>
            </a:r>
            <a:endParaRPr lang="en-US" sz="1000" dirty="0"/>
          </a:p>
        </p:txBody>
      </p:sp>
      <p:sp>
        <p:nvSpPr>
          <p:cNvPr id="23" name="Shape 15"/>
          <p:cNvSpPr/>
          <p:nvPr/>
        </p:nvSpPr>
        <p:spPr>
          <a:xfrm>
            <a:off x="4663440" y="2240280"/>
            <a:ext cx="4023360" cy="777240"/>
          </a:xfrm>
          <a:prstGeom prst="rect">
            <a:avLst/>
          </a:prstGeom>
          <a:solidFill>
            <a:srgbClr val="1E2B38"/>
          </a:solidFill>
          <a:ln w="12700">
            <a:solidFill>
              <a:srgbClr val="1E2B38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4663440" y="2240280"/>
            <a:ext cx="64008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4800600" y="23042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CFAR Detection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4800600" y="26243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Adaptive threshold for target detection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4663440" y="3044952"/>
            <a:ext cx="4023360" cy="777240"/>
          </a:xfrm>
          <a:prstGeom prst="rect">
            <a:avLst/>
          </a:prstGeom>
          <a:solidFill>
            <a:srgbClr val="1E2B38"/>
          </a:solidFill>
          <a:ln w="12700">
            <a:solidFill>
              <a:srgbClr val="1E2B38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4663440" y="3044952"/>
            <a:ext cx="64008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4800600" y="3108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Angle (AoA)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4800600" y="3429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Use 4-RX phase differences for direction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4663440" y="3849624"/>
            <a:ext cx="4023360" cy="777240"/>
          </a:xfrm>
          <a:prstGeom prst="rect">
            <a:avLst/>
          </a:prstGeom>
          <a:solidFill>
            <a:srgbClr val="1E2B38"/>
          </a:solidFill>
          <a:ln w="12700">
            <a:solidFill>
              <a:srgbClr val="1E2B38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4663440" y="3849624"/>
            <a:ext cx="64008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4800600" y="39136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Point Cloud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4800600" y="42336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Combine range, velocity, angle → 3D points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594360" y="4507992"/>
            <a:ext cx="7955280" cy="411480"/>
          </a:xfrm>
          <a:prstGeom prst="rect">
            <a:avLst/>
          </a:prstGeom>
          <a:solidFill>
            <a:srgbClr val="1E2B38"/>
          </a:solidFill>
          <a:ln w="12700">
            <a:solidFill>
              <a:srgbClr val="1E2B38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594360" y="4507992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IWR1843BOOST  +  DCA1000EVM  ·  Python / NumPy  ·  ADC Capture → Range FFT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1094</Words>
  <Application>Microsoft Office PowerPoint</Application>
  <PresentationFormat>On-screen Show (16:9)</PresentationFormat>
  <Paragraphs>197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IWR1843 + DCA1000 — ADC Capture &amp; Range FFT</dc:title>
  <dc:subject>PptxGenJS Presentation</dc:subject>
  <dc:creator>PptxGenJS</dc:creator>
  <cp:lastModifiedBy>Asad Shad</cp:lastModifiedBy>
  <cp:revision>2</cp:revision>
  <dcterms:created xsi:type="dcterms:W3CDTF">2026-06-01T02:08:10Z</dcterms:created>
  <dcterms:modified xsi:type="dcterms:W3CDTF">2026-06-01T02:27:01Z</dcterms:modified>
</cp:coreProperties>
</file>